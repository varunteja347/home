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Sora ExtraLight"/>
      <p:regular r:id="rId201314"/>
    </p:embeddedFont>
    <p:embeddedFont>
      <p:font typeface="Sora Ligh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4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82" y="712153"/>
            <a:ext cx="1132811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PROPERTY PROTECTION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6582" y="3439815"/>
            <a:ext cx="10718532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Home insurance,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made easier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736582" y="5409902"/>
            <a:ext cx="1071853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Clarity for homeowners. Control for the teams behind every claim.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582" y="5876627"/>
            <a:ext cx="3036613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7EC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3239" y="5933676"/>
            <a:ext cx="343288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7EC1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A CONNECTED INSURANCE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87435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E6E9E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THE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883285"/>
            <a:ext cx="11277318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One platform, two connected experiences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2364978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Customers manage protection from home while surveyors and admins manage inspections, claims, and service operations.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3657600"/>
            <a:ext cx="5867253" cy="3200400"/>
          </a:xfrm>
          <a:prstGeom prst="rect">
            <a:avLst/>
          </a:prstGeom>
          <a:solidFill>
            <a:srgbClr val="A9D7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90" y="4242495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0990" y="4772720"/>
            <a:ext cx="510527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Homeowners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80990" y="5163245"/>
            <a:ext cx="510527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See what is covered, what happens next, and where to get help.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0990" y="5864126"/>
            <a:ext cx="1684692" cy="19050"/>
          </a:xfrm>
          <a:prstGeom prst="roundRect">
            <a:avLst>
              <a:gd name="adj" fmla="val 49999"/>
            </a:avLst>
          </a:prstGeom>
          <a:solidFill>
            <a:srgbClr val="0A3A5C"/>
          </a:solidFill>
          <a:ln/>
        </p:spPr>
      </p:sp>
      <p:sp>
        <p:nvSpPr>
          <p:cNvPr id="10" name="Text 7"/>
          <p:cNvSpPr/>
          <p:nvPr/>
        </p:nvSpPr>
        <p:spPr>
          <a:xfrm>
            <a:off x="380990" y="6087328"/>
            <a:ext cx="548626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A calm customer experience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24442" y="3657600"/>
            <a:ext cx="5867253" cy="3200400"/>
          </a:xfrm>
          <a:prstGeom prst="rect">
            <a:avLst/>
          </a:prstGeom>
          <a:solidFill>
            <a:srgbClr val="2E6E9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432" y="4242495"/>
            <a:ext cx="355591" cy="355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05432" y="4772720"/>
            <a:ext cx="510527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Surveyors &amp; admins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705432" y="5163245"/>
            <a:ext cx="510527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Coordinate inspections, claims, users, policies, and service work in one operational view.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05432" y="5864126"/>
            <a:ext cx="1684692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6705432" y="6087328"/>
            <a:ext cx="548626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A connected service experience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80587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4865" y="557570"/>
            <a:ext cx="599683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E6E9E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THE HOMEOWNER VIEW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194865" y="853420"/>
            <a:ext cx="5539641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Homeowners see their protection at a glance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194865" y="3059410"/>
            <a:ext cx="553964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One calm dashboard brings the essentials together, so people know what is covered and where to turn.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865" y="3715841"/>
            <a:ext cx="444489" cy="444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4865" y="4331156"/>
            <a:ext cx="26936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Policy status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194865" y="4683522"/>
            <a:ext cx="269362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Active and easy to confirm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884" y="3715841"/>
            <a:ext cx="444489" cy="444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40884" y="4331156"/>
            <a:ext cx="26936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Covered property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9040884" y="4683522"/>
            <a:ext cx="269362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The home and its protection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865" y="5084763"/>
            <a:ext cx="444489" cy="444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4865" y="5700078"/>
            <a:ext cx="26936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Renewal dates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6194865" y="6052443"/>
            <a:ext cx="269362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No important date hidden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0884" y="5084763"/>
            <a:ext cx="444489" cy="444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040884" y="5700078"/>
            <a:ext cx="26936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Documents &amp; support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9040884" y="6052443"/>
            <a:ext cx="269362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Answers close at hand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9382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08100" y="1583888"/>
            <a:ext cx="658359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E6E9E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THE CLAIMS JOURNEY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08100" y="1879739"/>
            <a:ext cx="6126406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Claims move from incident to resolution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608100" y="4031952"/>
            <a:ext cx="65835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Every stage is visible, from the first report to the settlement decision.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08100" y="4439543"/>
            <a:ext cx="6126406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Report: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Share photos and details of the incident.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Review: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Track review and surveyor assignment.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Resolve: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See next steps, updates, and settlement progress.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893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03755" y="519867"/>
            <a:ext cx="638794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E6E9E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THE FIELD VIEW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803755" y="815717"/>
            <a:ext cx="5930752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Surveyors work from the field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803755" y="2297410"/>
            <a:ext cx="593075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Review assigned cases, schedule visits, capture evidence, complete inspection checklists, and submit findings from any device.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03755" y="3202682"/>
            <a:ext cx="2965277" cy="1568152"/>
          </a:xfrm>
          <a:custGeom>
            <a:avLst/>
            <a:gdLst/>
            <a:ahLst/>
            <a:cxnLst/>
            <a:rect l="l" t="t" r="r" b="b"/>
            <a:pathLst>
              <a:path w="2965277" h="1568152">
                <a:moveTo>
                  <a:pt x="9525" y="0"/>
                </a:moveTo>
                <a:lnTo>
                  <a:pt x="2965277" y="0"/>
                </a:lnTo>
                <a:lnTo>
                  <a:pt x="2965277" y="1568152"/>
                </a:lnTo>
                <a:lnTo>
                  <a:pt x="0" y="1568152"/>
                </a:lnTo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0A3A5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349" y="3431302"/>
            <a:ext cx="355591" cy="355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5736" y="3443347"/>
            <a:ext cx="197470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Assigned cases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565736" y="3795713"/>
            <a:ext cx="197470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Review the queue and plan the day.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769031" y="3202682"/>
            <a:ext cx="2965376" cy="1568152"/>
          </a:xfrm>
          <a:custGeom>
            <a:avLst/>
            <a:gdLst/>
            <a:ahLst/>
            <a:cxnLst/>
            <a:rect l="l" t="t" r="r" b="b"/>
            <a:pathLst>
              <a:path w="2965376" h="1568152">
                <a:moveTo>
                  <a:pt x="0" y="0"/>
                </a:moveTo>
                <a:lnTo>
                  <a:pt x="2955851" y="0"/>
                </a:lnTo>
                <a:arcTo hR="9525" wR="9525" stAng="16200000" swAng="5400000"/>
                <a:lnTo>
                  <a:pt x="2965376" y="1568152"/>
                </a:lnTo>
                <a:lnTo>
                  <a:pt x="0" y="1568152"/>
                </a:lnTo>
                <a:lnTo>
                  <a:pt x="0" y="0"/>
                </a:lnTo>
                <a:close/>
              </a:path>
            </a:pathLst>
          </a:custGeom>
          <a:solidFill>
            <a:srgbClr val="0A3A5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626" y="3431302"/>
            <a:ext cx="355591" cy="355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31012" y="3443347"/>
            <a:ext cx="197480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Schedule visits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9531012" y="3795713"/>
            <a:ext cx="197480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Coordinate inspections without back-and-forth.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803755" y="4770834"/>
            <a:ext cx="2965277" cy="1568152"/>
          </a:xfrm>
          <a:custGeom>
            <a:avLst/>
            <a:gdLst/>
            <a:ahLst/>
            <a:cxnLst/>
            <a:rect l="l" t="t" r="r" b="b"/>
            <a:pathLst>
              <a:path w="2965277" h="1568152">
                <a:moveTo>
                  <a:pt x="0" y="0"/>
                </a:moveTo>
                <a:lnTo>
                  <a:pt x="2965277" y="0"/>
                </a:lnTo>
                <a:lnTo>
                  <a:pt x="2965277" y="1568152"/>
                </a:lnTo>
                <a:lnTo>
                  <a:pt x="9525" y="1568152"/>
                </a:lnTo>
                <a:arcTo hR="9525" w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0A3A5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349" y="4999454"/>
            <a:ext cx="355591" cy="355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65736" y="5011499"/>
            <a:ext cx="197470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Capture evidence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6565736" y="5363865"/>
            <a:ext cx="197470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Record photos, notes, and inspection details.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769031" y="4770834"/>
            <a:ext cx="2965376" cy="1568152"/>
          </a:xfrm>
          <a:custGeom>
            <a:avLst/>
            <a:gdLst/>
            <a:ahLst/>
            <a:cxnLst/>
            <a:rect l="l" t="t" r="r" b="b"/>
            <a:pathLst>
              <a:path w="2965376" h="1568152">
                <a:moveTo>
                  <a:pt x="0" y="0"/>
                </a:moveTo>
                <a:lnTo>
                  <a:pt x="2965376" y="0"/>
                </a:lnTo>
                <a:lnTo>
                  <a:pt x="2965376" y="1558627"/>
                </a:lnTo>
                <a:arcTo hR="9525" wR="9525" stAng="0" swAng="5400000"/>
                <a:lnTo>
                  <a:pt x="0" y="1568152"/>
                </a:lnTo>
                <a:lnTo>
                  <a:pt x="0" y="0"/>
                </a:lnTo>
                <a:close/>
              </a:path>
            </a:pathLst>
          </a:custGeom>
          <a:solidFill>
            <a:srgbClr val="0A3A5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26" y="4999454"/>
            <a:ext cx="355591" cy="355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531012" y="5011499"/>
            <a:ext cx="197480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Submit findings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9531012" y="5363865"/>
            <a:ext cx="197480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Complete checklists and move the case on.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8762682" y="3202682"/>
            <a:ext cx="12700" cy="1568152"/>
          </a:xfrm>
          <a:prstGeom prst="rect">
            <a:avLst/>
          </a:prstGeom>
          <a:solidFill>
            <a:srgbClr val="D4ECFF"/>
          </a:solidFill>
          <a:ln/>
        </p:spPr>
      </p:sp>
      <p:sp>
        <p:nvSpPr>
          <p:cNvPr id="23" name="Shape 16"/>
          <p:cNvSpPr/>
          <p:nvPr/>
        </p:nvSpPr>
        <p:spPr>
          <a:xfrm>
            <a:off x="5803755" y="4764484"/>
            <a:ext cx="2965277" cy="12700"/>
          </a:xfrm>
          <a:prstGeom prst="rect">
            <a:avLst/>
          </a:prstGeom>
          <a:solidFill>
            <a:srgbClr val="D4ECFF"/>
          </a:solidFill>
          <a:ln/>
        </p:spPr>
      </p:sp>
      <p:sp>
        <p:nvSpPr>
          <p:cNvPr id="24" name="Shape 17"/>
          <p:cNvSpPr/>
          <p:nvPr/>
        </p:nvSpPr>
        <p:spPr>
          <a:xfrm>
            <a:off x="8762682" y="4770834"/>
            <a:ext cx="12700" cy="1568152"/>
          </a:xfrm>
          <a:prstGeom prst="rect">
            <a:avLst/>
          </a:prstGeom>
          <a:solidFill>
            <a:srgbClr val="D4ECFF"/>
          </a:solidFill>
          <a:ln/>
        </p:spPr>
      </p:sp>
      <p:sp>
        <p:nvSpPr>
          <p:cNvPr id="25" name="Shape 18"/>
          <p:cNvSpPr/>
          <p:nvPr/>
        </p:nvSpPr>
        <p:spPr>
          <a:xfrm>
            <a:off x="8769031" y="4764484"/>
            <a:ext cx="2965376" cy="12700"/>
          </a:xfrm>
          <a:prstGeom prst="rect">
            <a:avLst/>
          </a:prstGeom>
          <a:solidFill>
            <a:srgbClr val="D4EC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922695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E6E9E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THE OPERATIONS 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218545"/>
            <a:ext cx="11277318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Admins keep every case moving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2029718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Live operational views make the work visible, so teams can act before a case stalls.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3657600"/>
            <a:ext cx="2705032" cy="3200400"/>
          </a:xfrm>
          <a:prstGeom prst="rect">
            <a:avLst/>
          </a:prstGeom>
          <a:solidFill>
            <a:srgbClr val="A9D7FF"/>
          </a:solidFill>
          <a:ln/>
        </p:spPr>
      </p:sp>
      <p:sp>
        <p:nvSpPr>
          <p:cNvPr id="6" name="Text 4"/>
          <p:cNvSpPr/>
          <p:nvPr/>
        </p:nvSpPr>
        <p:spPr>
          <a:xfrm>
            <a:off x="253994" y="4400014"/>
            <a:ext cx="245103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WORKLOADS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3994" y="4706342"/>
            <a:ext cx="219704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Open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53994" y="5369917"/>
            <a:ext cx="219704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See cases by owner, queue, and current stage.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62221" y="3657600"/>
            <a:ext cx="2705032" cy="3200400"/>
          </a:xfrm>
          <a:prstGeom prst="rect">
            <a:avLst/>
          </a:prstGeom>
          <a:solidFill>
            <a:srgbClr val="A9D7FF"/>
          </a:solidFill>
          <a:ln/>
        </p:spPr>
      </p:sp>
      <p:sp>
        <p:nvSpPr>
          <p:cNvPr id="10" name="Text 8"/>
          <p:cNvSpPr/>
          <p:nvPr/>
        </p:nvSpPr>
        <p:spPr>
          <a:xfrm>
            <a:off x="3416215" y="4524435"/>
            <a:ext cx="245103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PRIORITY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16215" y="4830762"/>
            <a:ext cx="219704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Urgent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416215" y="5494338"/>
            <a:ext cx="219704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Bring attention to claims that need action now.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24442" y="3657600"/>
            <a:ext cx="2705032" cy="32004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4" name="Text 12"/>
          <p:cNvSpPr/>
          <p:nvPr/>
        </p:nvSpPr>
        <p:spPr>
          <a:xfrm>
            <a:off x="6578435" y="4524435"/>
            <a:ext cx="245103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CONTROL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78435" y="4830762"/>
            <a:ext cx="219704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Manage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578435" y="5494338"/>
            <a:ext cx="219704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Keep users and policies accurate and current.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486663" y="3657600"/>
            <a:ext cx="2705032" cy="32004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8" name="Text 16"/>
          <p:cNvSpPr/>
          <p:nvPr/>
        </p:nvSpPr>
        <p:spPr>
          <a:xfrm>
            <a:off x="9740656" y="4400014"/>
            <a:ext cx="245103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INSIGHT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40656" y="4706342"/>
            <a:ext cx="219704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Spot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740656" y="5369917"/>
            <a:ext cx="219704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Find bottlenecks through live operational views.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594406"/>
            <a:ext cx="423663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E6E9E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THE OUTCOME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890256"/>
            <a:ext cx="3779445" cy="268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Trust grows through visible progress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4766766"/>
            <a:ext cx="377944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When every handoff is easier to see, confidence replaces uncertainty.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50912" y="0"/>
            <a:ext cx="3367995" cy="2307431"/>
          </a:xfrm>
          <a:prstGeom prst="rect">
            <a:avLst/>
          </a:prstGeom>
          <a:solidFill>
            <a:srgbClr val="A9D7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0305" y="304800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30305" y="835025"/>
            <a:ext cx="280920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Fewer status-chasing calls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30305" y="1504950"/>
            <a:ext cx="280920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Customers can check progress without waiting for an update.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823700" y="0"/>
            <a:ext cx="3367995" cy="2307431"/>
          </a:xfrm>
          <a:prstGeom prst="rect">
            <a:avLst/>
          </a:prstGeom>
          <a:solidFill>
            <a:srgbClr val="A9D7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093" y="304800"/>
            <a:ext cx="355591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03093" y="835025"/>
            <a:ext cx="280920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Clearer communication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103093" y="1504950"/>
            <a:ext cx="280920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Customer, surveyor, and insurer share the same view.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150912" y="2612231"/>
            <a:ext cx="3367995" cy="2307431"/>
          </a:xfrm>
          <a:prstGeom prst="rect">
            <a:avLst/>
          </a:prstGeom>
          <a:solidFill>
            <a:srgbClr val="2E6E9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305" y="2917031"/>
            <a:ext cx="355591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30305" y="3447256"/>
            <a:ext cx="280920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More consistent decisions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5430305" y="4117181"/>
            <a:ext cx="280920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Documentation and next steps are captured in one place.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823700" y="2612231"/>
            <a:ext cx="3367995" cy="2307431"/>
          </a:xfrm>
          <a:prstGeom prst="rect">
            <a:avLst/>
          </a:prstGeom>
          <a:solidFill>
            <a:srgbClr val="2E6E9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093" y="2917031"/>
            <a:ext cx="355591" cy="355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03093" y="3447256"/>
            <a:ext cx="280920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Progress people can trust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9103093" y="4117181"/>
            <a:ext cx="280920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A visible path from incident to resolution.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82" y="712153"/>
            <a:ext cx="1132811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THE NEXT EXPERIENCE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6582" y="2195215"/>
            <a:ext cx="10718532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A simpler future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for property protection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736582" y="5105102"/>
            <a:ext cx="1071853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Connect customers, surveyors, and admins in one reliable digital experience built around confidence after the unexpected.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6582" y="5876627"/>
            <a:ext cx="3183255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7EC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3239" y="5933676"/>
            <a:ext cx="3579525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7EC1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PROTECTION PEOPLE CAN UNDERSTAND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2026-10-08T05:30:27Z</dcterms:created>
  <dcterms:modified xsi:type="dcterms:W3CDTF">2026-10-08T05:30:27Z</dcterms:modified>
</cp:coreProperties>
</file>