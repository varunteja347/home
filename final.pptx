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ricolage Grotesque ExtraBold"/>
      <p:regular r:id="rId201314"/>
    </p:embeddedFont>
    <p:embeddedFont>
      <p:font typeface="Instrument Sans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9928" y="3464719"/>
            <a:ext cx="1090902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TECHNICAL PROJECT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69928" y="3812858"/>
            <a:ext cx="10299442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House Owner Insurance Management System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9928" y="5143341"/>
            <a:ext cx="1029944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web-based platform for property registration, risk-based policy purchase, renewals, and claims processing.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816F4B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01 · PLATFORM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8057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One platform for the full insurance journey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75694"/>
            <a:ext cx="10972526" cy="1103709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2548096"/>
            <a:ext cx="1036294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Customers move end to end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377" y="3016984"/>
            <a:ext cx="106677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A5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Maintain property details, assess risk, choose coverage, renew policies, and submit claims.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5" y="3631803"/>
            <a:ext cx="10972526" cy="1103809"/>
          </a:xfrm>
          <a:prstGeom prst="rect">
            <a:avLst/>
          </a:prstGeom>
          <a:solidFill>
            <a:srgbClr val="D7D5CF"/>
          </a:solidFill>
          <a:ln/>
        </p:spPr>
      </p:sp>
      <p:sp>
        <p:nvSpPr>
          <p:cNvPr id="8" name="Text 6"/>
          <p:cNvSpPr/>
          <p:nvPr/>
        </p:nvSpPr>
        <p:spPr>
          <a:xfrm>
            <a:off x="914377" y="3804206"/>
            <a:ext cx="1036294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Administrators see the whole book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377" y="4273094"/>
            <a:ext cx="106677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A5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Manage customers, properties, policies, claims, and reports from a centralized dashboard.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585" y="4888012"/>
            <a:ext cx="10972526" cy="1360388"/>
          </a:xfrm>
          <a:prstGeom prst="rect">
            <a:avLst/>
          </a:prstGeom>
          <a:solidFill>
            <a:srgbClr val="D9E2E8"/>
          </a:solidFill>
          <a:ln/>
        </p:spPr>
      </p:sp>
      <p:sp>
        <p:nvSpPr>
          <p:cNvPr id="11" name="Text 9"/>
          <p:cNvSpPr/>
          <p:nvPr/>
        </p:nvSpPr>
        <p:spPr>
          <a:xfrm>
            <a:off x="914377" y="5140742"/>
            <a:ext cx="10362941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200" spc="-80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 more efficient, user-friendly workflow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14377" y="5722382"/>
            <a:ext cx="106677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A5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One platform connects homeowners and insurers across the full insurance journey.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816F4B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02 · 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8057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Microservices architecture separates change and scale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946326" y="2650331"/>
            <a:ext cx="5410065" cy="2590800"/>
          </a:xfrm>
          <a:prstGeom prst="roundRect">
            <a:avLst/>
          </a:prstGeom>
          <a:noFill/>
          <a:ln w="25400">
            <a:solidFill>
              <a:srgbClr val="D7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81" y="3691731"/>
            <a:ext cx="1727157" cy="736600"/>
          </a:xfrm>
          <a:prstGeom prst="roundRect">
            <a:avLst>
              <a:gd name="adj" fmla="val 4655"/>
            </a:avLst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3957680"/>
            <a:ext cx="142236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800" b="1" spc="-18" kern="100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Angular UI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14537" y="3882231"/>
            <a:ext cx="406390" cy="355600"/>
          </a:xfrm>
          <a:prstGeom prst="rightArrow">
            <a:avLst/>
          </a:prstGeom>
          <a:solidFill>
            <a:srgbClr val="6E879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320" y="2904331"/>
            <a:ext cx="2108147" cy="660400"/>
          </a:xfrm>
          <a:prstGeom prst="roundRect">
            <a:avLst>
              <a:gd name="adj" fmla="val 5192"/>
            </a:avLst>
          </a:prstGeom>
          <a:solidFill>
            <a:srgbClr val="6E879B"/>
          </a:solidFill>
          <a:ln/>
        </p:spPr>
      </p:sp>
      <p:sp>
        <p:nvSpPr>
          <p:cNvPr id="9" name="Text 7"/>
          <p:cNvSpPr/>
          <p:nvPr/>
        </p:nvSpPr>
        <p:spPr>
          <a:xfrm>
            <a:off x="3327317" y="3012224"/>
            <a:ext cx="185415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800" b="1" spc="-18" kern="100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Ocelot API Gateway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59266" y="3056731"/>
            <a:ext cx="355591" cy="330200"/>
          </a:xfrm>
          <a:prstGeom prst="rightArrow">
            <a:avLst/>
          </a:prstGeom>
          <a:solidFill>
            <a:srgbClr val="6E879B"/>
          </a:solidFill>
          <a:ln/>
        </p:spPr>
      </p:sp>
      <p:sp>
        <p:nvSpPr>
          <p:cNvPr id="11" name="Shape 9"/>
          <p:cNvSpPr/>
          <p:nvPr/>
        </p:nvSpPr>
        <p:spPr>
          <a:xfrm>
            <a:off x="5841854" y="2904331"/>
            <a:ext cx="2184345" cy="660400"/>
          </a:xfrm>
          <a:prstGeom prst="roundRect">
            <a:avLst>
              <a:gd name="adj" fmla="val 5192"/>
            </a:avLst>
          </a:prstGeom>
          <a:solidFill>
            <a:srgbClr val="D9E2E8"/>
          </a:solidFill>
          <a:ln/>
        </p:spPr>
      </p:sp>
      <p:sp>
        <p:nvSpPr>
          <p:cNvPr id="12" name="Text 10"/>
          <p:cNvSpPr/>
          <p:nvPr/>
        </p:nvSpPr>
        <p:spPr>
          <a:xfrm>
            <a:off x="5968851" y="3132180"/>
            <a:ext cx="193035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800" b="1" spc="-18" kern="100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Service boundary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320" y="3742531"/>
            <a:ext cx="1498563" cy="609600"/>
          </a:xfrm>
          <a:prstGeom prst="roundRect">
            <a:avLst>
              <a:gd name="adj" fmla="val 5625"/>
            </a:avLst>
          </a:prstGeom>
          <a:solidFill>
            <a:srgbClr val="E8E3DA"/>
          </a:solidFill>
          <a:ln/>
        </p:spPr>
      </p:sp>
      <p:sp>
        <p:nvSpPr>
          <p:cNvPr id="14" name="Text 12"/>
          <p:cNvSpPr/>
          <p:nvPr/>
        </p:nvSpPr>
        <p:spPr>
          <a:xfrm>
            <a:off x="3301917" y="3792538"/>
            <a:ext cx="12953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25879" y="3742531"/>
            <a:ext cx="1498563" cy="609600"/>
          </a:xfrm>
          <a:prstGeom prst="roundRect">
            <a:avLst>
              <a:gd name="adj" fmla="val 5625"/>
            </a:avLst>
          </a:prstGeom>
          <a:solidFill>
            <a:srgbClr val="D7D5CF"/>
          </a:solidFill>
          <a:ln/>
        </p:spPr>
      </p:sp>
      <p:sp>
        <p:nvSpPr>
          <p:cNvPr id="16" name="Text 14"/>
          <p:cNvSpPr/>
          <p:nvPr/>
        </p:nvSpPr>
        <p:spPr>
          <a:xfrm>
            <a:off x="4622684" y="3921125"/>
            <a:ext cx="19049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51439" y="3742531"/>
            <a:ext cx="1498563" cy="609600"/>
          </a:xfrm>
          <a:prstGeom prst="roundRect">
            <a:avLst>
              <a:gd name="adj" fmla="val 5625"/>
            </a:avLst>
          </a:prstGeom>
          <a:solidFill>
            <a:srgbClr val="E8E3DA"/>
          </a:solidFill>
          <a:ln/>
        </p:spPr>
      </p:sp>
      <p:sp>
        <p:nvSpPr>
          <p:cNvPr id="18" name="Text 16"/>
          <p:cNvSpPr/>
          <p:nvPr/>
        </p:nvSpPr>
        <p:spPr>
          <a:xfrm>
            <a:off x="6248244" y="3921125"/>
            <a:ext cx="19049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Property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13100" y="4529931"/>
            <a:ext cx="1498563" cy="609600"/>
          </a:xfrm>
          <a:prstGeom prst="roundRect">
            <a:avLst>
              <a:gd name="adj" fmla="val 5625"/>
            </a:avLst>
          </a:prstGeom>
          <a:solidFill>
            <a:srgbClr val="D7D5CF"/>
          </a:solidFill>
          <a:ln/>
        </p:spPr>
      </p:sp>
      <p:sp>
        <p:nvSpPr>
          <p:cNvPr id="20" name="Text 18"/>
          <p:cNvSpPr/>
          <p:nvPr/>
        </p:nvSpPr>
        <p:spPr>
          <a:xfrm>
            <a:off x="3809905" y="4708525"/>
            <a:ext cx="19049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Policy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38659" y="4529931"/>
            <a:ext cx="1498563" cy="609600"/>
          </a:xfrm>
          <a:prstGeom prst="roundRect">
            <a:avLst>
              <a:gd name="adj" fmla="val 5625"/>
            </a:avLst>
          </a:prstGeom>
          <a:solidFill>
            <a:srgbClr val="E8E3DA"/>
          </a:solidFill>
          <a:ln/>
        </p:spPr>
      </p:sp>
      <p:sp>
        <p:nvSpPr>
          <p:cNvPr id="22" name="Text 20"/>
          <p:cNvSpPr/>
          <p:nvPr/>
        </p:nvSpPr>
        <p:spPr>
          <a:xfrm>
            <a:off x="5435464" y="4708525"/>
            <a:ext cx="19049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Claim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02397" y="3869531"/>
            <a:ext cx="431789" cy="355600"/>
          </a:xfrm>
          <a:prstGeom prst="rightArrow">
            <a:avLst/>
          </a:prstGeom>
          <a:solidFill>
            <a:srgbClr val="6E879B"/>
          </a:solidFill>
          <a:ln/>
        </p:spPr>
      </p:sp>
      <p:sp>
        <p:nvSpPr>
          <p:cNvPr id="24" name="Shape 22"/>
          <p:cNvSpPr/>
          <p:nvPr/>
        </p:nvSpPr>
        <p:spPr>
          <a:xfrm>
            <a:off x="8711982" y="3488531"/>
            <a:ext cx="2412940" cy="914400"/>
          </a:xfrm>
          <a:prstGeom prst="roundRect">
            <a:avLst>
              <a:gd name="adj" fmla="val 3750"/>
            </a:avLst>
          </a:prstGeom>
          <a:solidFill>
            <a:srgbClr val="D7D5CF"/>
          </a:solidFill>
          <a:ln/>
        </p:spPr>
      </p:sp>
      <p:sp>
        <p:nvSpPr>
          <p:cNvPr id="25" name="Text 23"/>
          <p:cNvSpPr/>
          <p:nvPr/>
        </p:nvSpPr>
        <p:spPr>
          <a:xfrm>
            <a:off x="8864378" y="3503754"/>
            <a:ext cx="210814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800" b="1" spc="-18" kern="100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4378" y="3893542"/>
            <a:ext cx="210814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Shared platform concern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11982" y="4631531"/>
            <a:ext cx="2412940" cy="736600"/>
          </a:xfrm>
          <a:prstGeom prst="roundRect">
            <a:avLst>
              <a:gd name="adj" fmla="val 4655"/>
            </a:avLst>
          </a:prstGeom>
          <a:solidFill>
            <a:srgbClr val="D9E2E8"/>
          </a:solidFill>
          <a:ln/>
        </p:spPr>
      </p:sp>
      <p:sp>
        <p:nvSpPr>
          <p:cNvPr id="28" name="Text 26"/>
          <p:cNvSpPr/>
          <p:nvPr/>
        </p:nvSpPr>
        <p:spPr>
          <a:xfrm>
            <a:off x="8864378" y="4695071"/>
            <a:ext cx="210814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JWT</a:t>
            </a:r>
            <a:pPr algn="ctr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/ Entity Framework Core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1941" y="5581650"/>
            <a:ext cx="114678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536879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Clear service boundaries let each concern change and scale independently.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03 · USE CASES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8057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Customers and staff interact through focused use cases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870128" y="2320131"/>
            <a:ext cx="6426039" cy="3886200"/>
          </a:xfrm>
          <a:prstGeom prst="roundRect">
            <a:avLst/>
          </a:prstGeom>
          <a:noFill/>
          <a:ln w="25400">
            <a:solidFill>
              <a:srgbClr val="D7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5" y="3742531"/>
            <a:ext cx="1803355" cy="863600"/>
          </a:xfrm>
          <a:prstGeom prst="roundRect">
            <a:avLst>
              <a:gd name="adj" fmla="val 3970"/>
            </a:avLst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4034294"/>
            <a:ext cx="149856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Customer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75560" y="3742531"/>
            <a:ext cx="2006550" cy="863600"/>
          </a:xfrm>
          <a:prstGeom prst="roundRect">
            <a:avLst>
              <a:gd name="adj" fmla="val 3970"/>
            </a:avLst>
          </a:prstGeom>
          <a:solidFill>
            <a:srgbClr val="D9E2E8"/>
          </a:solidFill>
          <a:ln/>
        </p:spPr>
      </p:sp>
      <p:sp>
        <p:nvSpPr>
          <p:cNvPr id="8" name="Text 6"/>
          <p:cNvSpPr/>
          <p:nvPr/>
        </p:nvSpPr>
        <p:spPr>
          <a:xfrm>
            <a:off x="9727957" y="4071980"/>
            <a:ext cx="170175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800" b="1" spc="-18" kern="100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Surveyor/Admin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89138" y="3983831"/>
            <a:ext cx="330192" cy="330200"/>
          </a:xfrm>
          <a:prstGeom prst="rightArrow">
            <a:avLst/>
          </a:prstGeom>
          <a:solidFill>
            <a:srgbClr val="6E879B"/>
          </a:solidFill>
          <a:ln/>
        </p:spPr>
      </p:sp>
      <p:sp>
        <p:nvSpPr>
          <p:cNvPr id="10" name="Shape 8"/>
          <p:cNvSpPr/>
          <p:nvPr/>
        </p:nvSpPr>
        <p:spPr>
          <a:xfrm flipH="1">
            <a:off x="9346966" y="3983831"/>
            <a:ext cx="330192" cy="330200"/>
          </a:xfrm>
          <a:prstGeom prst="rightArrow">
            <a:avLst/>
          </a:prstGeom>
          <a:solidFill>
            <a:srgbClr val="6E879B"/>
          </a:solidFill>
          <a:ln/>
        </p:spPr>
      </p:sp>
      <p:sp>
        <p:nvSpPr>
          <p:cNvPr id="11" name="Shape 9"/>
          <p:cNvSpPr/>
          <p:nvPr/>
        </p:nvSpPr>
        <p:spPr>
          <a:xfrm>
            <a:off x="3174921" y="2523331"/>
            <a:ext cx="2641534" cy="584200"/>
          </a:xfrm>
          <a:prstGeom prst="roundRect">
            <a:avLst>
              <a:gd name="adj" fmla="val 5869"/>
            </a:avLst>
          </a:prstGeom>
          <a:solidFill>
            <a:srgbClr val="D7D5CF"/>
          </a:solidFill>
          <a:ln/>
        </p:spPr>
      </p:sp>
      <p:sp>
        <p:nvSpPr>
          <p:cNvPr id="12" name="Text 10"/>
          <p:cNvSpPr/>
          <p:nvPr/>
        </p:nvSpPr>
        <p:spPr>
          <a:xfrm>
            <a:off x="3301917" y="2560638"/>
            <a:ext cx="23875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register/login · manage profile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5848" y="2523331"/>
            <a:ext cx="2895528" cy="584200"/>
          </a:xfrm>
          <a:prstGeom prst="roundRect">
            <a:avLst>
              <a:gd name="adj" fmla="val 5869"/>
            </a:avLst>
          </a:prstGeom>
          <a:solidFill>
            <a:srgbClr val="E8E3DA"/>
          </a:solidFill>
          <a:ln/>
        </p:spPr>
      </p:sp>
      <p:sp>
        <p:nvSpPr>
          <p:cNvPr id="14" name="Text 12"/>
          <p:cNvSpPr/>
          <p:nvPr/>
        </p:nvSpPr>
        <p:spPr>
          <a:xfrm>
            <a:off x="6222844" y="2560638"/>
            <a:ext cx="26415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register property · view risk score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74921" y="3234531"/>
            <a:ext cx="2641534" cy="584200"/>
          </a:xfrm>
          <a:prstGeom prst="roundRect">
            <a:avLst>
              <a:gd name="adj" fmla="val 5869"/>
            </a:avLst>
          </a:prstGeom>
          <a:solidFill>
            <a:srgbClr val="E8E3DA"/>
          </a:solidFill>
          <a:ln/>
        </p:spPr>
      </p:sp>
      <p:sp>
        <p:nvSpPr>
          <p:cNvPr id="16" name="Text 14"/>
          <p:cNvSpPr/>
          <p:nvPr/>
        </p:nvSpPr>
        <p:spPr>
          <a:xfrm>
            <a:off x="2997125" y="3400425"/>
            <a:ext cx="2997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purchase or renew policy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3234531"/>
            <a:ext cx="2895528" cy="584200"/>
          </a:xfrm>
          <a:prstGeom prst="roundRect">
            <a:avLst>
              <a:gd name="adj" fmla="val 5869"/>
            </a:avLst>
          </a:prstGeom>
          <a:solidFill>
            <a:srgbClr val="D7D5CF"/>
          </a:solidFill>
          <a:ln/>
        </p:spPr>
      </p:sp>
      <p:sp>
        <p:nvSpPr>
          <p:cNvPr id="18" name="Text 16"/>
          <p:cNvSpPr/>
          <p:nvPr/>
        </p:nvSpPr>
        <p:spPr>
          <a:xfrm>
            <a:off x="6222844" y="3271838"/>
            <a:ext cx="26415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submit claim · upload evidence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74921" y="3945731"/>
            <a:ext cx="2641534" cy="584200"/>
          </a:xfrm>
          <a:prstGeom prst="roundRect">
            <a:avLst>
              <a:gd name="adj" fmla="val 5869"/>
            </a:avLst>
          </a:prstGeom>
          <a:solidFill>
            <a:srgbClr val="D7D5CF"/>
          </a:solidFill>
          <a:ln/>
        </p:spPr>
      </p:sp>
      <p:sp>
        <p:nvSpPr>
          <p:cNvPr id="20" name="Text 18"/>
          <p:cNvSpPr/>
          <p:nvPr/>
        </p:nvSpPr>
        <p:spPr>
          <a:xfrm>
            <a:off x="2997125" y="4111625"/>
            <a:ext cx="2997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track claim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5848" y="3945731"/>
            <a:ext cx="2895528" cy="584200"/>
          </a:xfrm>
          <a:prstGeom prst="roundRect">
            <a:avLst>
              <a:gd name="adj" fmla="val 5869"/>
            </a:avLst>
          </a:prstGeom>
          <a:solidFill>
            <a:srgbClr val="E8E3DA"/>
          </a:solidFill>
          <a:ln/>
        </p:spPr>
      </p:sp>
      <p:sp>
        <p:nvSpPr>
          <p:cNvPr id="22" name="Text 20"/>
          <p:cNvSpPr/>
          <p:nvPr/>
        </p:nvSpPr>
        <p:spPr>
          <a:xfrm>
            <a:off x="5918052" y="4111625"/>
            <a:ext cx="32511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review property and risk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74921" y="4656931"/>
            <a:ext cx="2641534" cy="584200"/>
          </a:xfrm>
          <a:prstGeom prst="roundRect">
            <a:avLst>
              <a:gd name="adj" fmla="val 5869"/>
            </a:avLst>
          </a:prstGeom>
          <a:solidFill>
            <a:srgbClr val="E8E3DA"/>
          </a:solidFill>
          <a:ln/>
        </p:spPr>
      </p:sp>
      <p:sp>
        <p:nvSpPr>
          <p:cNvPr id="24" name="Text 22"/>
          <p:cNvSpPr/>
          <p:nvPr/>
        </p:nvSpPr>
        <p:spPr>
          <a:xfrm>
            <a:off x="3301917" y="4694238"/>
            <a:ext cx="23875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review claims · create survey report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95848" y="4656931"/>
            <a:ext cx="2895528" cy="584200"/>
          </a:xfrm>
          <a:prstGeom prst="roundRect">
            <a:avLst>
              <a:gd name="adj" fmla="val 5869"/>
            </a:avLst>
          </a:prstGeom>
          <a:solidFill>
            <a:srgbClr val="D7D5CF"/>
          </a:solidFill>
          <a:ln/>
        </p:spPr>
      </p:sp>
      <p:sp>
        <p:nvSpPr>
          <p:cNvPr id="26" name="Text 24"/>
          <p:cNvSpPr/>
          <p:nvPr/>
        </p:nvSpPr>
        <p:spPr>
          <a:xfrm>
            <a:off x="5918052" y="4822825"/>
            <a:ext cx="32511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approve/reject claims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22684" y="5469731"/>
            <a:ext cx="2920927" cy="584200"/>
          </a:xfrm>
          <a:prstGeom prst="roundRect">
            <a:avLst>
              <a:gd name="adj" fmla="val 5869"/>
            </a:avLst>
          </a:prstGeom>
          <a:solidFill>
            <a:srgbClr val="D9E2E8"/>
          </a:solidFill>
          <a:ln/>
        </p:spPr>
      </p:sp>
      <p:sp>
        <p:nvSpPr>
          <p:cNvPr id="28" name="Text 26"/>
          <p:cNvSpPr/>
          <p:nvPr/>
        </p:nvSpPr>
        <p:spPr>
          <a:xfrm>
            <a:off x="4749681" y="5507038"/>
            <a:ext cx="26669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approve surveyor · manage policies and customers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11462" y="2076450"/>
            <a:ext cx="516877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536879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House Owner Insurance Management System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816F4B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04 · RISK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8057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Risk assessment turns property data into a plan recommendation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294731"/>
            <a:ext cx="10972526" cy="1356221"/>
          </a:xfrm>
          <a:prstGeom prst="rect">
            <a:avLst/>
          </a:prstGeom>
          <a:solidFill>
            <a:srgbClr val="D7D5CF"/>
          </a:solidFill>
          <a:ln/>
        </p:spPr>
      </p:sp>
      <p:sp>
        <p:nvSpPr>
          <p:cNvPr id="5" name="Shape 3"/>
          <p:cNvSpPr/>
          <p:nvPr/>
        </p:nvSpPr>
        <p:spPr>
          <a:xfrm>
            <a:off x="736582" y="2540992"/>
            <a:ext cx="863578" cy="863600"/>
          </a:xfrm>
          <a:prstGeom prst="rect">
            <a:avLst/>
          </a:prstGeom>
          <a:solidFill>
            <a:srgbClr val="D9E2E8"/>
          </a:solidFill>
          <a:ln/>
        </p:spPr>
      </p:sp>
      <p:sp>
        <p:nvSpPr>
          <p:cNvPr id="6" name="Text 4"/>
          <p:cNvSpPr/>
          <p:nvPr/>
        </p:nvSpPr>
        <p:spPr>
          <a:xfrm>
            <a:off x="848795" y="2706092"/>
            <a:ext cx="124863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126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79553" y="2441734"/>
            <a:ext cx="939776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Capture property data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79553" y="2910622"/>
            <a:ext cx="939776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Property age, market value, area, floors, ownership, construction, roof, security, and previous claims.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585" y="3803352"/>
            <a:ext cx="10972526" cy="11176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0" name="Shape 8"/>
          <p:cNvSpPr/>
          <p:nvPr/>
        </p:nvSpPr>
        <p:spPr>
          <a:xfrm>
            <a:off x="736582" y="3930352"/>
            <a:ext cx="863578" cy="863600"/>
          </a:xfrm>
          <a:prstGeom prst="rect">
            <a:avLst/>
          </a:prstGeom>
          <a:solidFill>
            <a:srgbClr val="6E879B"/>
          </a:solidFill>
          <a:ln/>
        </p:spPr>
      </p:sp>
      <p:sp>
        <p:nvSpPr>
          <p:cNvPr id="11" name="Text 9"/>
          <p:cNvSpPr/>
          <p:nvPr/>
        </p:nvSpPr>
        <p:spPr>
          <a:xfrm>
            <a:off x="848795" y="4095452"/>
            <a:ext cx="124863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126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879553" y="3985280"/>
            <a:ext cx="939776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Calculate a risk score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79553" y="4454168"/>
            <a:ext cx="970255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Weighted factors and security adjustments turn the property profile into a score.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585" y="5073352"/>
            <a:ext cx="10972526" cy="1219200"/>
          </a:xfrm>
          <a:prstGeom prst="rect">
            <a:avLst/>
          </a:prstGeom>
          <a:solidFill>
            <a:srgbClr val="D9E2E8"/>
          </a:solidFill>
          <a:ln/>
        </p:spPr>
      </p:sp>
      <p:sp>
        <p:nvSpPr>
          <p:cNvPr id="15" name="Shape 13"/>
          <p:cNvSpPr/>
          <p:nvPr/>
        </p:nvSpPr>
        <p:spPr>
          <a:xfrm>
            <a:off x="736582" y="5251152"/>
            <a:ext cx="863578" cy="863600"/>
          </a:xfrm>
          <a:prstGeom prst="rect">
            <a:avLst/>
          </a:prstGeom>
          <a:solidFill>
            <a:srgbClr val="D9E2E8"/>
          </a:solidFill>
          <a:ln/>
        </p:spPr>
      </p:sp>
      <p:sp>
        <p:nvSpPr>
          <p:cNvPr id="16" name="Text 14"/>
          <p:cNvSpPr/>
          <p:nvPr/>
        </p:nvSpPr>
        <p:spPr>
          <a:xfrm>
            <a:off x="848795" y="5416252"/>
            <a:ext cx="124863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126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879553" y="5306080"/>
            <a:ext cx="939776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Map score to coverage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79553" y="5774968"/>
            <a:ext cx="970255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Low Risk 0–30 → Basic · Medium Risk 31–60 → Standard · High Risk 61–100 → Premium.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9608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Claims move from submission to survey decision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1996281"/>
            <a:ext cx="3555911" cy="2485132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244884"/>
            <a:ext cx="309872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Submit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179" y="2713772"/>
            <a:ext cx="3098722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Customer submits policy number, incident details, claim amount, damage description, and supporting evidence.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17892" y="1996281"/>
            <a:ext cx="3555911" cy="2485132"/>
          </a:xfrm>
          <a:prstGeom prst="rect">
            <a:avLst/>
          </a:prstGeom>
          <a:solidFill>
            <a:srgbClr val="D7D5CF"/>
          </a:solidFill>
          <a:ln/>
        </p:spPr>
      </p:sp>
      <p:sp>
        <p:nvSpPr>
          <p:cNvPr id="7" name="Text 5"/>
          <p:cNvSpPr/>
          <p:nvPr/>
        </p:nvSpPr>
        <p:spPr>
          <a:xfrm>
            <a:off x="4546486" y="2244884"/>
            <a:ext cx="309872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Survey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46486" y="2713772"/>
            <a:ext cx="3098722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Surveyor reviews customer, property, policy, and uploaded evidence, then records damage assessment and estimated loss.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26199" y="1996281"/>
            <a:ext cx="3555911" cy="2485132"/>
          </a:xfrm>
          <a:prstGeom prst="rect">
            <a:avLst/>
          </a:prstGeom>
          <a:solidFill>
            <a:srgbClr val="D9E2E8"/>
          </a:solidFill>
          <a:ln/>
        </p:spPr>
      </p:sp>
      <p:sp>
        <p:nvSpPr>
          <p:cNvPr id="10" name="Text 8"/>
          <p:cNvSpPr/>
          <p:nvPr/>
        </p:nvSpPr>
        <p:spPr>
          <a:xfrm>
            <a:off x="8254793" y="2244884"/>
            <a:ext cx="309872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Decide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54793" y="2713772"/>
            <a:ext cx="3098722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survey report supports an approve or reject decision, with status visible in the claims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3F4A5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06 · IMPLEMENTATION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8057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Implementation stack supports a maintainable platform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75694"/>
            <a:ext cx="2628834" cy="2233513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573496"/>
            <a:ext cx="207004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Frontend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88978" y="3042384"/>
            <a:ext cx="234944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A5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Angular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90815" y="2375694"/>
            <a:ext cx="2628834" cy="2233513"/>
          </a:xfrm>
          <a:prstGeom prst="rect">
            <a:avLst/>
          </a:prstGeom>
          <a:solidFill>
            <a:srgbClr val="D7D5CF"/>
          </a:solidFill>
          <a:ln/>
        </p:spPr>
      </p:sp>
      <p:sp>
        <p:nvSpPr>
          <p:cNvPr id="8" name="Text 6"/>
          <p:cNvSpPr/>
          <p:nvPr/>
        </p:nvSpPr>
        <p:spPr>
          <a:xfrm>
            <a:off x="3670208" y="2573496"/>
            <a:ext cx="207004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Backend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70208" y="3042384"/>
            <a:ext cx="207004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A5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ASP.NET Core Web API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046" y="2375694"/>
            <a:ext cx="2628834" cy="2233513"/>
          </a:xfrm>
          <a:prstGeom prst="rect">
            <a:avLst/>
          </a:prstGeom>
          <a:solidFill>
            <a:srgbClr val="D9E2E8"/>
          </a:solidFill>
          <a:ln/>
        </p:spPr>
      </p:sp>
      <p:sp>
        <p:nvSpPr>
          <p:cNvPr id="11" name="Text 9"/>
          <p:cNvSpPr/>
          <p:nvPr/>
        </p:nvSpPr>
        <p:spPr>
          <a:xfrm>
            <a:off x="6451439" y="2573496"/>
            <a:ext cx="207004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Routing and security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51439" y="3362365"/>
            <a:ext cx="207004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Ocelot API Gateway with JWT authentication.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53276" y="2375694"/>
            <a:ext cx="2628834" cy="2233513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4" name="Text 12"/>
          <p:cNvSpPr/>
          <p:nvPr/>
        </p:nvSpPr>
        <p:spPr>
          <a:xfrm>
            <a:off x="9232669" y="2573496"/>
            <a:ext cx="207004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4" kern="100" dirty="0">
                <a:solidFill>
                  <a:srgbClr val="3F4A5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Persistence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32669" y="3042384"/>
            <a:ext cx="207004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A5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SQL Server with Entity Framework Core ORM.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585" y="4918770"/>
            <a:ext cx="10972526" cy="1329630"/>
          </a:xfrm>
          <a:prstGeom prst="rect">
            <a:avLst/>
          </a:prstGeom>
          <a:solidFill>
            <a:srgbClr val="6E879B"/>
          </a:solidFill>
          <a:ln/>
        </p:spPr>
      </p:sp>
      <p:sp>
        <p:nvSpPr>
          <p:cNvPr id="17" name="Text 15"/>
          <p:cNvSpPr/>
          <p:nvPr/>
        </p:nvSpPr>
        <p:spPr>
          <a:xfrm>
            <a:off x="965176" y="5158800"/>
            <a:ext cx="10261343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200" spc="-80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Independently deployable services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65176" y="5740440"/>
            <a:ext cx="1061693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Clearer ownership, scalability, security, and maintainability.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6E879B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65919"/>
            <a:ext cx="335271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4792" y="5381050"/>
            <a:ext cx="3047924" cy="1158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200" spc="-80" kern="100" dirty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One platform. Clearer decisions.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509" y="0"/>
            <a:ext cx="8534187" cy="68580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6" name="Text 4"/>
          <p:cNvSpPr/>
          <p:nvPr/>
        </p:nvSpPr>
        <p:spPr>
          <a:xfrm>
            <a:off x="4216295" y="467519"/>
            <a:ext cx="7975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536879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16295" y="815658"/>
            <a:ext cx="7416614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-120" kern="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Turn property data into confident insurance decisions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216295" y="2725182"/>
            <a:ext cx="741661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focused microservices platform connects registration, risk assessment, policy management, renewals, and claims in one maintainable workflow.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16295" y="3909020"/>
            <a:ext cx="2447368" cy="50701"/>
          </a:xfrm>
          <a:prstGeom prst="roundRect">
            <a:avLst>
              <a:gd name="adj" fmla="val 49999"/>
            </a:avLst>
          </a:prstGeom>
          <a:solidFill>
            <a:srgbClr val="6E879B"/>
          </a:solidFill>
          <a:ln/>
        </p:spPr>
      </p:sp>
      <p:sp>
        <p:nvSpPr>
          <p:cNvPr id="10" name="Text 8"/>
          <p:cNvSpPr/>
          <p:nvPr/>
        </p:nvSpPr>
        <p:spPr>
          <a:xfrm>
            <a:off x="4216295" y="4232076"/>
            <a:ext cx="7975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Editable architecture · focused use cases · scalable operations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2026-10-08T06:01:36Z</dcterms:created>
  <dcterms:modified xsi:type="dcterms:W3CDTF">2026-10-08T06:01:36Z</dcterms:modified>
</cp:coreProperties>
</file>